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6" r:id="rId9"/>
    <p:sldId id="262" r:id="rId10"/>
    <p:sldId id="263" r:id="rId11"/>
    <p:sldId id="264" r:id="rId12"/>
    <p:sldId id="265" r:id="rId13"/>
  </p:sldIdLst>
  <p:sldSz cx="12192000" cy="6858000"/>
  <p:notesSz cx="7102475" cy="9037638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27-10-2026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27-10-2026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27-10-2026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27-10-2026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27-10-2026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27-10-2026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27-10-2026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27-10-2026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27-10-2026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27-10-2026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27-10-2026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27-10-2026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27-10-2026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27-10-2026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27-10-2026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27-10-2026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27-10-2026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27-10-2026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ICICS52457.2021.9464539?utm_source=chatgpt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2197/ipsjjip.29.548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example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2378"/>
            <a:ext cx="10515600" cy="112839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</a:rPr>
              <a:t>Intelligent QR Code Risk Analysis &amp; Malicious QR Detection System</a:t>
            </a:r>
            <a:br>
              <a:rPr lang="en-US" sz="2400" b="1" dirty="0"/>
            </a:b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418" y="1898074"/>
            <a:ext cx="10515600" cy="96469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000" b="1" dirty="0"/>
              <a:t>Team No – 19</a:t>
            </a:r>
          </a:p>
          <a:p>
            <a:pPr marL="0" indent="0" algn="ctr">
              <a:buNone/>
            </a:pPr>
            <a:r>
              <a:rPr lang="en-IN" sz="1800" b="1" dirty="0"/>
              <a:t>2420090110    Manikonda </a:t>
            </a:r>
            <a:r>
              <a:rPr lang="en-IN" sz="1800" b="1" dirty="0" err="1"/>
              <a:t>Pranavi</a:t>
            </a:r>
            <a:endParaRPr lang="en-IN" sz="1800" b="1" dirty="0"/>
          </a:p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</a:rPr>
              <a:t>2420030410      </a:t>
            </a:r>
            <a:r>
              <a:rPr lang="en-US" sz="1800" b="1" dirty="0" err="1">
                <a:latin typeface="Times New Roman" panose="02020603050405020304" pitchFamily="18" charset="0"/>
              </a:rPr>
              <a:t>Sreehitha</a:t>
            </a:r>
            <a:r>
              <a:rPr lang="en-US" sz="1800" b="1" dirty="0">
                <a:latin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</a:rPr>
              <a:t>Potluru</a:t>
            </a:r>
            <a:endParaRPr lang="en-US" sz="1800" b="1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1800" b="1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1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  <a:t>27-10-2026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52500" y="302642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312" y="4834502"/>
            <a:ext cx="2175809" cy="10326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27-10-2026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952"/>
            <a:ext cx="10515600" cy="50029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/>
              <a:t>Project: Intelligent QR Code Risk Analysis &amp; Malicious QR Detection System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1900" dirty="0"/>
              <a:t>QR codes are widely used in digital payments, online shopping, education, and website access. However, malicious QR codes may redirect users to phishing websites or fraudulent pages.</a:t>
            </a:r>
          </a:p>
          <a:p>
            <a:r>
              <a:rPr lang="en-US" sz="1900" dirty="0"/>
              <a:t>Importance: This project helps users identify potentially malicious URLs and improves awareness of QR-code security threats.</a:t>
            </a:r>
          </a:p>
          <a:p>
            <a:r>
              <a:rPr lang="en-US" sz="1900" dirty="0"/>
              <a:t>Problem Statement: Users cannot easily determine whether a QR code contains a safe or malicious link. The proposed system allows users to enter a URL manually or upload a QR-code image, analyzes the URL, and displays a risk score with its classification.</a:t>
            </a:r>
          </a:p>
          <a:p>
            <a:pPr marL="0" indent="0">
              <a:buNone/>
            </a:pPr>
            <a:r>
              <a:rPr lang="en-US" sz="2200" b="1" dirty="0"/>
              <a:t>Applications:</a:t>
            </a:r>
          </a:p>
          <a:p>
            <a:r>
              <a:rPr lang="en-US" sz="1900" dirty="0"/>
              <a:t>Digital payment security</a:t>
            </a:r>
          </a:p>
          <a:p>
            <a:r>
              <a:rPr lang="en-US" sz="1900" dirty="0"/>
              <a:t>Online shopping</a:t>
            </a:r>
          </a:p>
          <a:p>
            <a:r>
              <a:rPr lang="en-US" sz="1900" dirty="0"/>
              <a:t>Educational institutions</a:t>
            </a:r>
          </a:p>
          <a:p>
            <a:r>
              <a:rPr lang="en-US" sz="1900" dirty="0"/>
              <a:t>Business and public places</a:t>
            </a:r>
          </a:p>
          <a:p>
            <a:r>
              <a:rPr lang="en-US" sz="1900" dirty="0"/>
              <a:t>Personal cybersecurity awareness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27-10-2026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27-10-2026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B56FACB-3BE6-7710-5AF6-30246594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1A2E70C-F427-46FE-A9D4-2E2F6A5D8B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4239" y="1493134"/>
            <a:ext cx="1060594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user-friendly system for analyzing URLs and QR-code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allow users to manually enter URLs for security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extract URLs automatically from uploaded QR-code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potentially malicious URLs by analyzing suspicious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calculate a risk score based on the detected URL characteristics.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classify URLs into Low Risk, Suspicious, and High Risk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display detailed analysis results through an interactive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explanations for suspicious URL characteristics.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the system using benign and malicious URL samples.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09" y="40341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6122"/>
            <a:ext cx="10515600" cy="2350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Existing methods</a:t>
            </a:r>
          </a:p>
          <a:p>
            <a:r>
              <a:rPr lang="en-US" sz="1500" dirty="0"/>
              <a:t>Blacklist-based detection: Checks URLs against lists of known malicious websites.</a:t>
            </a:r>
          </a:p>
          <a:p>
            <a:r>
              <a:rPr lang="en-US" sz="1500" dirty="0"/>
              <a:t>Machine-learning detection: Uses URL features to classify links as benign or potentially malicious.</a:t>
            </a:r>
          </a:p>
          <a:p>
            <a:pPr marL="0" indent="0">
              <a:buNone/>
            </a:pPr>
            <a:r>
              <a:rPr lang="en-US" sz="1500" b="1" dirty="0"/>
              <a:t>Research gap</a:t>
            </a:r>
          </a:p>
          <a:p>
            <a:r>
              <a:rPr lang="en-US" sz="1500" dirty="0"/>
              <a:t>Some approaches focus on URL detection without providing an integrated QR-image upload workflow.</a:t>
            </a:r>
          </a:p>
          <a:p>
            <a:r>
              <a:rPr lang="en-US" sz="1500" dirty="0"/>
              <a:t>Newly created malicious URLs may not appear in existing blacklists.</a:t>
            </a:r>
          </a:p>
          <a:p>
            <a:r>
              <a:rPr lang="en-US" sz="1500" dirty="0"/>
              <a:t>Some systems provide a classification without clearly explaining the reasons behind it.</a:t>
            </a:r>
          </a:p>
          <a:p>
            <a:pPr marL="0" indent="0">
              <a:buNone/>
            </a:pPr>
            <a:endParaRPr lang="en-US" sz="15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27-10-2026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EA843F7-8A62-A540-2018-E141BD34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38D87D-0FA3-420F-9C4A-A867994EC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543694"/>
              </p:ext>
            </p:extLst>
          </p:nvPr>
        </p:nvGraphicFramePr>
        <p:xfrm>
          <a:off x="1009409" y="3429000"/>
          <a:ext cx="10265049" cy="3241172"/>
        </p:xfrm>
        <a:graphic>
          <a:graphicData uri="http://schemas.openxmlformats.org/drawingml/2006/table">
            <a:tbl>
              <a:tblPr/>
              <a:tblGrid>
                <a:gridCol w="722241">
                  <a:extLst>
                    <a:ext uri="{9D8B030D-6E8A-4147-A177-3AD203B41FA5}">
                      <a16:colId xmlns:a16="http://schemas.microsoft.com/office/drawing/2014/main" val="1122393026"/>
                    </a:ext>
                  </a:extLst>
                </a:gridCol>
                <a:gridCol w="867528">
                  <a:extLst>
                    <a:ext uri="{9D8B030D-6E8A-4147-A177-3AD203B41FA5}">
                      <a16:colId xmlns:a16="http://schemas.microsoft.com/office/drawing/2014/main" val="692659333"/>
                    </a:ext>
                  </a:extLst>
                </a:gridCol>
                <a:gridCol w="867528">
                  <a:extLst>
                    <a:ext uri="{9D8B030D-6E8A-4147-A177-3AD203B41FA5}">
                      <a16:colId xmlns:a16="http://schemas.microsoft.com/office/drawing/2014/main" val="358897020"/>
                    </a:ext>
                  </a:extLst>
                </a:gridCol>
                <a:gridCol w="867528">
                  <a:extLst>
                    <a:ext uri="{9D8B030D-6E8A-4147-A177-3AD203B41FA5}">
                      <a16:colId xmlns:a16="http://schemas.microsoft.com/office/drawing/2014/main" val="3533402884"/>
                    </a:ext>
                  </a:extLst>
                </a:gridCol>
                <a:gridCol w="867528">
                  <a:extLst>
                    <a:ext uri="{9D8B030D-6E8A-4147-A177-3AD203B41FA5}">
                      <a16:colId xmlns:a16="http://schemas.microsoft.com/office/drawing/2014/main" val="2212214417"/>
                    </a:ext>
                  </a:extLst>
                </a:gridCol>
                <a:gridCol w="867528">
                  <a:extLst>
                    <a:ext uri="{9D8B030D-6E8A-4147-A177-3AD203B41FA5}">
                      <a16:colId xmlns:a16="http://schemas.microsoft.com/office/drawing/2014/main" val="2639346633"/>
                    </a:ext>
                  </a:extLst>
                </a:gridCol>
                <a:gridCol w="867528">
                  <a:extLst>
                    <a:ext uri="{9D8B030D-6E8A-4147-A177-3AD203B41FA5}">
                      <a16:colId xmlns:a16="http://schemas.microsoft.com/office/drawing/2014/main" val="1945622267"/>
                    </a:ext>
                  </a:extLst>
                </a:gridCol>
                <a:gridCol w="867528">
                  <a:extLst>
                    <a:ext uri="{9D8B030D-6E8A-4147-A177-3AD203B41FA5}">
                      <a16:colId xmlns:a16="http://schemas.microsoft.com/office/drawing/2014/main" val="2484458881"/>
                    </a:ext>
                  </a:extLst>
                </a:gridCol>
                <a:gridCol w="867528">
                  <a:extLst>
                    <a:ext uri="{9D8B030D-6E8A-4147-A177-3AD203B41FA5}">
                      <a16:colId xmlns:a16="http://schemas.microsoft.com/office/drawing/2014/main" val="2239116792"/>
                    </a:ext>
                  </a:extLst>
                </a:gridCol>
                <a:gridCol w="867528">
                  <a:extLst>
                    <a:ext uri="{9D8B030D-6E8A-4147-A177-3AD203B41FA5}">
                      <a16:colId xmlns:a16="http://schemas.microsoft.com/office/drawing/2014/main" val="897033182"/>
                    </a:ext>
                  </a:extLst>
                </a:gridCol>
                <a:gridCol w="867528">
                  <a:extLst>
                    <a:ext uri="{9D8B030D-6E8A-4147-A177-3AD203B41FA5}">
                      <a16:colId xmlns:a16="http://schemas.microsoft.com/office/drawing/2014/main" val="34430111"/>
                    </a:ext>
                  </a:extLst>
                </a:gridCol>
                <a:gridCol w="867528">
                  <a:extLst>
                    <a:ext uri="{9D8B030D-6E8A-4147-A177-3AD203B41FA5}">
                      <a16:colId xmlns:a16="http://schemas.microsoft.com/office/drawing/2014/main" val="1969735140"/>
                    </a:ext>
                  </a:extLst>
                </a:gridCol>
              </a:tblGrid>
              <a:tr h="663109">
                <a:tc>
                  <a:txBody>
                    <a:bodyPr/>
                    <a:lstStyle/>
                    <a:p>
                      <a:r>
                        <a:rPr lang="en-US" sz="1000"/>
                        <a:t>Sl No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Year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Authors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Title of the Paper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Source (Journal/Conference)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Objective of the Paper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Techniques Used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Dataset Used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Parameters Analysed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Research Inference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Research Gap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DOI of the Paper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316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2021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Refer to published paper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URL Phishing Detection Using Machine Learning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IEEE Conference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Detect phishing URLs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Machine Learning, URL Analysis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Labeled URL dataset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URL features, accuracy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ML can identify phishing URLs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QR image upload and integrated dashboard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10.1109/ICICS52457.2021.9464539</a:t>
                      </a:r>
                      <a:endParaRPr 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734870"/>
                  </a:ext>
                </a:extLst>
              </a:tr>
              <a:tr h="1916661"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2021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Toshihiro </a:t>
                      </a:r>
                      <a:r>
                        <a:rPr lang="en-US" sz="1000" dirty="0" err="1"/>
                        <a:t>Ohigashi</a:t>
                      </a:r>
                      <a:r>
                        <a:rPr lang="en-US" sz="1000" dirty="0"/>
                        <a:t> et al.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Detecting Fake QR Codes Using Information from Error-Correction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Journal of Information Processing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Detect fake QR codes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QR-code and error-correction analysis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QR-code samples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Error-correction information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Error-correction analysis can help detect fake QR codes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Integrated URL risk scoring and dashboard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10.2197/ipsjjip.29.548</a:t>
                      </a:r>
                      <a:endParaRPr 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313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1365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52B6941-B56F-78EF-6572-0086C4B2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073" y="1253761"/>
            <a:ext cx="11067854" cy="500292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/>
              <a:t>Proposed Solution:</a:t>
            </a:r>
          </a:p>
          <a:p>
            <a:pPr marL="0" indent="0">
              <a:buNone/>
            </a:pPr>
            <a:r>
              <a:rPr lang="en-US" sz="2000" dirty="0"/>
              <a:t>          </a:t>
            </a:r>
            <a:r>
              <a:rPr lang="en-US" sz="1700" dirty="0"/>
              <a:t>The system detects potentially malicious URLs by allowing users to enter a URL manually or upload a QR-code image. It extracts the URL, analyzes suspicious characteristics, calculates a risk score, and displays the results on a dashboard.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2000" b="1" dirty="0"/>
              <a:t>Block Diagram:</a:t>
            </a:r>
          </a:p>
          <a:p>
            <a:pPr marL="0" indent="0" algn="ctr">
              <a:buNone/>
            </a:pPr>
            <a:r>
              <a:rPr lang="en-US" sz="2000" dirty="0"/>
              <a:t>User Input</a:t>
            </a:r>
          </a:p>
          <a:p>
            <a:pPr marL="0" indent="0" algn="ctr">
              <a:buNone/>
            </a:pPr>
            <a:r>
              <a:rPr lang="en-US" sz="2000" dirty="0"/>
              <a:t>↓</a:t>
            </a:r>
          </a:p>
          <a:p>
            <a:pPr marL="0" indent="0" algn="ctr">
              <a:buNone/>
            </a:pPr>
            <a:r>
              <a:rPr lang="en-US" sz="2000" dirty="0"/>
              <a:t>Manual URL / QR Image Upload</a:t>
            </a:r>
          </a:p>
          <a:p>
            <a:pPr marL="0" indent="0" algn="ctr">
              <a:buNone/>
            </a:pPr>
            <a:r>
              <a:rPr lang="en-US" sz="2000" dirty="0"/>
              <a:t>↓</a:t>
            </a:r>
          </a:p>
          <a:p>
            <a:pPr marL="0" indent="0" algn="ctr">
              <a:buNone/>
            </a:pPr>
            <a:r>
              <a:rPr lang="en-US" sz="2000" dirty="0"/>
              <a:t>QR Decoding and URL Validation</a:t>
            </a:r>
          </a:p>
          <a:p>
            <a:pPr marL="0" indent="0" algn="ctr">
              <a:buNone/>
            </a:pPr>
            <a:r>
              <a:rPr lang="en-US" sz="2000" dirty="0"/>
              <a:t>↓</a:t>
            </a:r>
          </a:p>
          <a:p>
            <a:pPr marL="0" indent="0" algn="ctr">
              <a:buNone/>
            </a:pPr>
            <a:r>
              <a:rPr lang="en-US" sz="2000" dirty="0"/>
              <a:t>URL Feature Extraction</a:t>
            </a:r>
          </a:p>
          <a:p>
            <a:pPr marL="0" indent="0" algn="ctr">
              <a:buNone/>
            </a:pPr>
            <a:r>
              <a:rPr lang="en-US" sz="2000" dirty="0"/>
              <a:t>↓</a:t>
            </a:r>
          </a:p>
          <a:p>
            <a:pPr marL="0" indent="0" algn="ctr">
              <a:buNone/>
            </a:pPr>
            <a:r>
              <a:rPr lang="en-US" sz="2000" dirty="0"/>
              <a:t>Risk Analysis and Score Calculation</a:t>
            </a:r>
          </a:p>
          <a:p>
            <a:pPr marL="0" indent="0" algn="ctr">
              <a:buNone/>
            </a:pPr>
            <a:r>
              <a:rPr lang="en-US" sz="2000" dirty="0"/>
              <a:t>↓</a:t>
            </a:r>
          </a:p>
          <a:p>
            <a:pPr marL="0" indent="0" algn="ctr">
              <a:buNone/>
            </a:pPr>
            <a:r>
              <a:rPr lang="en-US" sz="2000" dirty="0"/>
              <a:t>Dashboard: Risk Score and Classification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27-10-2026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201DB43-9F00-00F7-5CD5-CA9274B8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CF8B8F-234A-4BBE-9D13-06D1B4244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27-10-2026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0B2C9-52F6-463F-B9B1-6ACC9F7D3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B5CD9-1D92-4C1E-B20F-4E1E02934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C55223-886A-4839-B2E0-D0A8D45B7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823"/>
            <a:ext cx="1458484" cy="69086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8572E38-74B9-421D-BF18-42D52AB51F14}"/>
              </a:ext>
            </a:extLst>
          </p:cNvPr>
          <p:cNvSpPr/>
          <p:nvPr/>
        </p:nvSpPr>
        <p:spPr>
          <a:xfrm>
            <a:off x="623740" y="1359000"/>
            <a:ext cx="1094452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Model or Algorithm Idea: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Accept a URL or QR-code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 and validate the URL.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suspicious URL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a risk score using defined rules or a trained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Classify the URL as Low Risk, Suspicious, or High Risk.</a:t>
            </a:r>
          </a:p>
          <a:p>
            <a:endParaRPr lang="en-US" dirty="0"/>
          </a:p>
          <a:p>
            <a:r>
              <a:rPr lang="en-US" sz="2000" b="1" dirty="0"/>
              <a:t>Expected Workflow: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submits a URL or QR-code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processes and analyzes the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Dashboard displays the extracted URL, risk score, classification, and suspicious indicators.</a:t>
            </a:r>
          </a:p>
        </p:txBody>
      </p:sp>
    </p:spTree>
    <p:extLst>
      <p:ext uri="{BB962C8B-B14F-4D97-AF65-F5344CB8AC3E}">
        <p14:creationId xmlns:p14="http://schemas.microsoft.com/office/powerpoint/2010/main" val="1506517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1. Tools / Software Used</a:t>
            </a:r>
          </a:p>
          <a:p>
            <a:r>
              <a:rPr lang="en-US" sz="1500" dirty="0"/>
              <a:t>Programming Language: Python</a:t>
            </a:r>
          </a:p>
          <a:p>
            <a:r>
              <a:rPr lang="en-US" sz="1500" dirty="0"/>
              <a:t>Frontend: </a:t>
            </a:r>
            <a:r>
              <a:rPr lang="en-US" sz="1500" dirty="0" err="1"/>
              <a:t>Streamlit</a:t>
            </a:r>
            <a:endParaRPr lang="en-US" sz="1500" dirty="0"/>
          </a:p>
          <a:p>
            <a:r>
              <a:rPr lang="en-US" sz="1500" dirty="0"/>
              <a:t>QR Code Detection: OpenCV</a:t>
            </a:r>
          </a:p>
          <a:p>
            <a:r>
              <a:rPr lang="en-US" sz="1500" dirty="0"/>
              <a:t>Data Processing: Pandas, NumPy</a:t>
            </a:r>
          </a:p>
          <a:p>
            <a:r>
              <a:rPr lang="en-US" sz="1500" dirty="0"/>
              <a:t>Machine Learning: </a:t>
            </a:r>
            <a:r>
              <a:rPr lang="en-US" sz="1500" dirty="0" err="1"/>
              <a:t>Scikit</a:t>
            </a:r>
            <a:r>
              <a:rPr lang="en-US" sz="1500" dirty="0"/>
              <a:t>-learn (if implemented)</a:t>
            </a:r>
          </a:p>
          <a:p>
            <a:r>
              <a:rPr lang="en-US" sz="1500" dirty="0"/>
              <a:t>Development Environment: VS Code</a:t>
            </a:r>
          </a:p>
          <a:p>
            <a:pPr marL="0" indent="0">
              <a:buNone/>
            </a:pPr>
            <a:r>
              <a:rPr lang="en-US" sz="2000" b="1" dirty="0"/>
              <a:t>2. Dataset Selection</a:t>
            </a:r>
          </a:p>
          <a:p>
            <a:r>
              <a:rPr lang="en-US" sz="1500" dirty="0"/>
              <a:t>Use a dataset containing benign and malicious URLs.</a:t>
            </a:r>
          </a:p>
          <a:p>
            <a:r>
              <a:rPr lang="en-US" sz="1500" dirty="0"/>
              <a:t>Include labeled phishing URLs for detection.</a:t>
            </a:r>
          </a:p>
          <a:p>
            <a:r>
              <a:rPr lang="en-US" sz="1500" dirty="0"/>
              <a:t>Extract URL features such as length, domain, HTTPS, and suspicious keywords.</a:t>
            </a:r>
          </a:p>
          <a:p>
            <a:pPr marL="0" indent="0">
              <a:buNone/>
            </a:pPr>
            <a:r>
              <a:rPr lang="en-US" sz="2000" b="1" dirty="0"/>
              <a:t>3. Sample Dataset:</a:t>
            </a:r>
          </a:p>
          <a:p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https://example.com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http://suspicious-example.test/login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27-10-2026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9823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B7B457D-38E8-2C64-57F5-E01DF17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09" y="126460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4469"/>
            <a:ext cx="10515600" cy="500292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Summary of the Proposal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1800" dirty="0"/>
              <a:t>The project aims to detect potentially malicious URLs hidden in QR codes.</a:t>
            </a:r>
          </a:p>
          <a:p>
            <a:r>
              <a:rPr lang="en-US" sz="1800" dirty="0"/>
              <a:t>Users can manually enter URLs or upload QR-code images for analysis.</a:t>
            </a:r>
          </a:p>
          <a:p>
            <a:r>
              <a:rPr lang="en-US" sz="1800" dirty="0"/>
              <a:t>The system extracts URLs and analyzes suspicious characteristics.</a:t>
            </a:r>
          </a:p>
          <a:p>
            <a:r>
              <a:rPr lang="en-US" sz="1800" dirty="0"/>
              <a:t>A risk score is calculated to classify URLs as Low Risk, Suspicious, or High Risk.</a:t>
            </a:r>
          </a:p>
          <a:p>
            <a:r>
              <a:rPr lang="en-US" sz="1800" dirty="0"/>
              <a:t>An interactive dashboard displays the analysis results and risk details.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b="1" dirty="0"/>
              <a:t>Next Steps for the Next Evaluation Phase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1800" dirty="0"/>
              <a:t>Complete the URL input and QR-code upload features.</a:t>
            </a:r>
          </a:p>
          <a:p>
            <a:r>
              <a:rPr lang="en-US" sz="1800" dirty="0"/>
              <a:t>Collect and preprocess a suitable malicious URL dataset.</a:t>
            </a:r>
          </a:p>
          <a:p>
            <a:r>
              <a:rPr lang="en-US" sz="1800" dirty="0"/>
              <a:t>Implement and test the risk analysis algorithm.</a:t>
            </a:r>
          </a:p>
          <a:p>
            <a:r>
              <a:rPr lang="en-US" sz="1800" dirty="0"/>
              <a:t>Evaluate detection performance using appropriate metrics.</a:t>
            </a:r>
          </a:p>
          <a:p>
            <a:r>
              <a:rPr lang="en-US" sz="1800" dirty="0"/>
              <a:t>Improve the dashboard and test the system with different URL and QR-code samples.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27-10-2026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87A4474-F3F0-CAB1-93F1-9BF4015F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27-10-2026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92543A9-D42E-FC1A-73CD-75569187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4732A89-9324-4772-819A-C9F8F0741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703" y="1662631"/>
            <a:ext cx="10613011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Woo, J., Lee, S., Park, I., and Lee, S. (2026). WebView-Based Hybrid Analysis of Link and Event for On-Device QR Phishing Detection Framework. Sensors.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URL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hishing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Detection Using Machine Learning Techniques Based on URLs Lexical Analysis. IEEE Conference, 2021. </a:t>
            </a:r>
          </a:p>
        </p:txBody>
      </p:sp>
      <p:pic>
        <p:nvPicPr>
          <p:cNvPr id="4098" name="Picture 2" descr="https://www.google.com/s2/favicons?domain=https://pubmed.ncbi.nlm.nih.gov&amp;sz=32">
            <a:extLst>
              <a:ext uri="{FF2B5EF4-FFF2-40B4-BE49-F238E27FC236}">
                <a16:creationId xmlns:a16="http://schemas.microsoft.com/office/drawing/2014/main" id="{A83CE148-94F1-4677-A1A7-41BB21531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603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  <a:t>27-10-2026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03FB2E-4E33-CA9A-E5FC-A215D8D2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956</Words>
  <Application>Microsoft Office PowerPoint</Application>
  <PresentationFormat>Widescreen</PresentationFormat>
  <Paragraphs>195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Custom Design</vt:lpstr>
      <vt:lpstr> REVIEW – 1  Intelligent QR Code Risk Analysis &amp; Malicious QR Detection System </vt:lpstr>
      <vt:lpstr>OUTLINE</vt:lpstr>
      <vt:lpstr>Introduction</vt:lpstr>
      <vt:lpstr>Objectives </vt:lpstr>
      <vt:lpstr>Literature Survey</vt:lpstr>
      <vt:lpstr>Proposed Method</vt:lpstr>
      <vt:lpstr>PowerPoint Presentation</vt:lpstr>
      <vt:lpstr>Implementation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– 1  Project Title</dc:title>
  <dc:creator>DELL</dc:creator>
  <cp:lastModifiedBy>LENOVO</cp:lastModifiedBy>
  <cp:revision>7</cp:revision>
  <dcterms:modified xsi:type="dcterms:W3CDTF">2026-10-27T16:56:57Z</dcterms:modified>
</cp:coreProperties>
</file>